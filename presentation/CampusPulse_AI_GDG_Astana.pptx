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bb6e4697f4ff3" /><Relationship Type="http://schemas.openxmlformats.org/officeDocument/2006/relationships/extended-properties" Target="/docProps/app.xml" Id="R32f427447db04e34" /><Relationship Type="http://schemas.openxmlformats.org/officeDocument/2006/relationships/officeDocument" Target="/ppt/presentation.xml" Id="Reded27efab80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4b7980a674a47"/>
  </p:sldMasterIdLst>
  <p:notesMasterIdLst>
    <p:notesMasterId xmlns:r="http://schemas.openxmlformats.org/officeDocument/2006/relationships" r:id="R2e821825c92b4e55"/>
  </p:notesMasterIdLst>
  <p:sldIdLst>
    <p:sldId xmlns:r="http://schemas.openxmlformats.org/officeDocument/2006/relationships" id="256" r:id="R899b06105ef544e9"/>
    <p:sldId xmlns:r="http://schemas.openxmlformats.org/officeDocument/2006/relationships" id="257" r:id="R58f1703c0d5848d6"/>
    <p:sldId xmlns:r="http://schemas.openxmlformats.org/officeDocument/2006/relationships" id="258" r:id="Re87f5b8fdfac4bd6"/>
    <p:sldId xmlns:r="http://schemas.openxmlformats.org/officeDocument/2006/relationships" id="259" r:id="R18cf6a6864054b41"/>
    <p:sldId xmlns:r="http://schemas.openxmlformats.org/officeDocument/2006/relationships" id="260" r:id="Rf7a8c290cf504f3f"/>
    <p:sldId xmlns:r="http://schemas.openxmlformats.org/officeDocument/2006/relationships" id="261" r:id="Rac7fbb6931e94a80"/>
    <p:sldId xmlns:r="http://schemas.openxmlformats.org/officeDocument/2006/relationships" id="262" r:id="R6489f7b94c56428b"/>
    <p:sldId xmlns:r="http://schemas.openxmlformats.org/officeDocument/2006/relationships" id="263" r:id="Rd22060aa8a904cd5"/>
    <p:sldId xmlns:r="http://schemas.openxmlformats.org/officeDocument/2006/relationships" id="264" r:id="Rdb7247105c964b5b"/>
    <p:sldId xmlns:r="http://schemas.openxmlformats.org/officeDocument/2006/relationships" id="265" r:id="R210b114a154c415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3ca811898471a" /><Relationship Type="http://schemas.openxmlformats.org/officeDocument/2006/relationships/slideMaster" Target="/ppt/slideMasters/slideMaster1.xml" Id="R8494b7980a674a47" /><Relationship Type="http://schemas.openxmlformats.org/officeDocument/2006/relationships/notesMaster" Target="/ppt/notesMasters/notesMaster1.xml" Id="R2e821825c92b4e55" /><Relationship Type="http://schemas.openxmlformats.org/officeDocument/2006/relationships/presProps" Target="/ppt/presProps.xml" Id="Rba55c011b7a64db5" /><Relationship Type="http://schemas.openxmlformats.org/officeDocument/2006/relationships/viewProps" Target="/ppt/viewProps.xml" Id="R1b814d435f034e61" /><Relationship Type="http://schemas.openxmlformats.org/officeDocument/2006/relationships/tableStyles" Target="/ppt/tableStyles.xml" Id="Rc0a7358cb54b4ff0" /><Relationship Type="http://schemas.openxmlformats.org/officeDocument/2006/relationships/slide" Target="/ppt/slides/slide1.xml" Id="R899b06105ef544e9" /><Relationship Type="http://schemas.openxmlformats.org/officeDocument/2006/relationships/slide" Target="/ppt/slides/slide2.xml" Id="R58f1703c0d5848d6" /><Relationship Type="http://schemas.openxmlformats.org/officeDocument/2006/relationships/slide" Target="/ppt/slides/slide3.xml" Id="Re87f5b8fdfac4bd6" /><Relationship Type="http://schemas.openxmlformats.org/officeDocument/2006/relationships/slide" Target="/ppt/slides/slide4.xml" Id="R18cf6a6864054b41" /><Relationship Type="http://schemas.openxmlformats.org/officeDocument/2006/relationships/slide" Target="/ppt/slides/slide5.xml" Id="Rf7a8c290cf504f3f" /><Relationship Type="http://schemas.openxmlformats.org/officeDocument/2006/relationships/slide" Target="/ppt/slides/slide6.xml" Id="Rac7fbb6931e94a80" /><Relationship Type="http://schemas.openxmlformats.org/officeDocument/2006/relationships/slide" Target="/ppt/slides/slide7.xml" Id="R6489f7b94c56428b" /><Relationship Type="http://schemas.openxmlformats.org/officeDocument/2006/relationships/slide" Target="/ppt/slides/slide8.xml" Id="Rd22060aa8a904cd5" /><Relationship Type="http://schemas.openxmlformats.org/officeDocument/2006/relationships/slide" Target="/ppt/slides/slide9.xml" Id="Rdb7247105c964b5b" /><Relationship Type="http://schemas.openxmlformats.org/officeDocument/2006/relationships/slide" Target="/ppt/slides/slide10.xml" Id="R210b114a154c41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d4e9856af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8b1bfe3fa447a" /><Relationship Type="http://schemas.openxmlformats.org/officeDocument/2006/relationships/notesMaster" Target="/ppt/notesMasters/notesMaster1.xml" Id="R41b267ea3e0d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be813e7d44186" /><Relationship Type="http://schemas.openxmlformats.org/officeDocument/2006/relationships/notesMaster" Target="/ppt/notesMasters/notesMaster1.xml" Id="R975bb5a44a77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86a271aa18485d" /><Relationship Type="http://schemas.openxmlformats.org/officeDocument/2006/relationships/notesMaster" Target="/ppt/notesMasters/notesMaster1.xml" Id="R531aa4f07e5b40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19b34b83e64f0c" /><Relationship Type="http://schemas.openxmlformats.org/officeDocument/2006/relationships/notesMaster" Target="/ppt/notesMasters/notesMaster1.xml" Id="R10a7a866e57541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a5239227841b5" /><Relationship Type="http://schemas.openxmlformats.org/officeDocument/2006/relationships/notesMaster" Target="/ppt/notesMasters/notesMaster1.xml" Id="R48ccf2b9599f40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408520feb40e1" /><Relationship Type="http://schemas.openxmlformats.org/officeDocument/2006/relationships/notesMaster" Target="/ppt/notesMasters/notesMaster1.xml" Id="Rd8adda29da5942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ed216a17240b5" /><Relationship Type="http://schemas.openxmlformats.org/officeDocument/2006/relationships/notesMaster" Target="/ppt/notesMasters/notesMaster1.xml" Id="R160c665e9a8840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b973845684e6f" /><Relationship Type="http://schemas.openxmlformats.org/officeDocument/2006/relationships/notesMaster" Target="/ppt/notesMasters/notesMaster1.xml" Id="Rc0116a8715a946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7d117d7c7f4c4a" /><Relationship Type="http://schemas.openxmlformats.org/officeDocument/2006/relationships/notesMaster" Target="/ppt/notesMasters/notesMaster1.xml" Id="Rd1e3b443fa0b41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4414c5ab4d417c" /><Relationship Type="http://schemas.openxmlformats.org/officeDocument/2006/relationships/notesMaster" Target="/ppt/notesMasters/notesMaster1.xml" Id="Rac0a936d9c6f4f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1b535a54d4e6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2e6726f3b469e" /><Relationship Type="http://schemas.openxmlformats.org/officeDocument/2006/relationships/slideLayout" Target="/ppt/slideLayouts/slideLayout1.xml" Id="R268f8289293b4d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f8289293b4da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b3c0b0d5842ce" /><Relationship Type="http://schemas.openxmlformats.org/officeDocument/2006/relationships/notesSlide" Target="/ppt/notesSlides/notesSlide1.xml" Id="R03a3e44b9135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b05c2377e4f2a" /><Relationship Type="http://schemas.openxmlformats.org/officeDocument/2006/relationships/notesSlide" Target="/ppt/notesSlides/notesSlide2.xml" Id="Re2d91d1d06e249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43fd38a3402e" /><Relationship Type="http://schemas.openxmlformats.org/officeDocument/2006/relationships/image" Target="/ppt/media/image.png" Id="Rcea587c0d6194b8d" /><Relationship Type="http://schemas.openxmlformats.org/officeDocument/2006/relationships/notesSlide" Target="/ppt/notesSlides/notesSlide3.xml" Id="R574fbab98239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05d0c86a54f72" /><Relationship Type="http://schemas.openxmlformats.org/officeDocument/2006/relationships/notesSlide" Target="/ppt/notesSlides/notesSlide4.xml" Id="R6232c3a2ecda44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e10621d894f75" /><Relationship Type="http://schemas.openxmlformats.org/officeDocument/2006/relationships/notesSlide" Target="/ppt/notesSlides/notesSlide5.xml" Id="R96a28ea861dc4d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427b3e52431e" /><Relationship Type="http://schemas.openxmlformats.org/officeDocument/2006/relationships/image" Target="/ppt/media/image2.png" Id="R56ee30b54b7548c6" /><Relationship Type="http://schemas.openxmlformats.org/officeDocument/2006/relationships/notesSlide" Target="/ppt/notesSlides/notesSlide6.xml" Id="R56d3d342d29244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59eb6e77c4c67" /><Relationship Type="http://schemas.openxmlformats.org/officeDocument/2006/relationships/image" Target="/ppt/media/image3.png" Id="R55b51cd0ed964c32" /><Relationship Type="http://schemas.openxmlformats.org/officeDocument/2006/relationships/image" Target="/ppt/media/image4.png" Id="Rca056bf82750412e" /><Relationship Type="http://schemas.openxmlformats.org/officeDocument/2006/relationships/notesSlide" Target="/ppt/notesSlides/notesSlide7.xml" Id="Rdc21693083bf4c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e90db43e64118" /><Relationship Type="http://schemas.openxmlformats.org/officeDocument/2006/relationships/notesSlide" Target="/ppt/notesSlides/notesSlide8.xml" Id="R049b2c79bc0c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30e6e5ee4c46" /><Relationship Type="http://schemas.openxmlformats.org/officeDocument/2006/relationships/notesSlide" Target="/ppt/notesSlides/notesSlide9.xml" Id="R2a69a034ea8a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3669c7f94878" /><Relationship Type="http://schemas.openxmlformats.org/officeDocument/2006/relationships/notesSlide" Target="/ppt/notesSlides/notesSlide10.xml" Id="R1b50421aa3ab4e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C8B328-13AB-45AC-A601-DD910C33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94360"/>
            <a:ext cx="960120" cy="96012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0F520A-330E-46E2-8F7F-1DFF911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47548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  <a:endParaRPr sz="4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ACCABE-C08C-42D9-9BCF-54EF36F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82880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CampusPulse AI</a:t>
            </a:r>
            <a:endParaRPr sz="5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CB8EE1-4F58-4557-A554-89069DB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058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>
                <a:solidFill>
                  <a:srgbClr val="C6D9FF"/>
                </a:solidFill>
                <a:latin typeface="Aptos"/>
                <a:ea typeface="Aptos"/>
                <a:cs typeface="Aptos"/>
              </a:rPr>
              <a:t>An intelligent academic companion powered by AI agents and MCP tools</a:t>
            </a:r>
            <a:endParaRPr sz="2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923E72-31A3-4022-B6C4-3879EAD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6126480" cy="557784"/>
          </a:xfrm>
          <a:prstGeom xmlns:a="http://schemas.openxmlformats.org/drawingml/2006/main" prst="roundRect">
            <a:avLst>
              <a:gd name="adj" fmla="val 24590"/>
            </a:avLst>
          </a:prstGeom>
          <a:solidFill xmlns:a="http://schemas.openxmlformats.org/drawingml/2006/main">
            <a:srgbClr val="192A4A"/>
          </a:solidFill>
          <a:ln xmlns:a="http://schemas.openxmlformats.org/drawingml/2006/main" w="12700">
            <a:solidFill>
              <a:srgbClr val="192A4A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4D641F-C614-455C-A92A-2C9EFC8A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37760"/>
            <a:ext cx="5760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A7C4FF"/>
                </a:solidFill>
                <a:latin typeface="Aptos"/>
                <a:ea typeface="Aptos"/>
                <a:cs typeface="Aptos"/>
              </a:rPr>
              <a:t>Build with AI Hackathon 2026  ·  GDG Astana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7DA188-97BC-4A57-97D9-FCB36A35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">
            <a:off x="8321040" y="914400"/>
            <a:ext cx="4754880" cy="47548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2100">
            <a:solidFill>
              <a:srgbClr val="356CFF">
                <a:alpha val="32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7B5488E-E80B-48E7-89EB-89ACBAC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8961120" y="1554480"/>
            <a:ext cx="3383280" cy="33832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5900">
            <a:solidFill>
              <a:srgbClr val="38C8EA">
                <a:alpha val="34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127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2BF4F18-87AE-4C6F-91CE-7B25F7E9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302B4-C520-4D89-AC91-E9D9686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098762-BE7C-4487-8775-52FEA6AC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Student life is fragmented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4F39F8-B0E6-458B-97BF-2E46937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One student. Multiple courses. Many moving deadlines.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FE27FE-71D4-48F8-9B9F-CC41ED6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02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BC2902F-FC23-4AA4-944E-8ED163FA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993392"/>
            <a:ext cx="3511296" cy="35204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43ECBE-657E-4861-B4A6-80A849A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993392"/>
            <a:ext cx="64008" cy="35204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F61F30-3ABD-429D-84F9-CB8C61D4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203704"/>
            <a:ext cx="30723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Information overload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709727-3049-4FA6-B0FD-F4526C2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761488"/>
            <a:ext cx="3035808" cy="2624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1718F"/>
                </a:solidFill>
                <a:latin typeface="Aptos"/>
                <a:ea typeface="Aptos"/>
                <a:cs typeface="Aptos"/>
              </a:rPr>
              <a:t>Schedules, assignments, grades and course materials often live in separate views.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AA904AB-EB8E-4F5E-BF2F-68041E4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93392"/>
            <a:ext cx="3511296" cy="35204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F69C195-B888-4D0C-A9B8-E52F2F5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93392"/>
            <a:ext cx="64008" cy="35204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6CEB"/>
          </a:solidFill>
          <a:ln xmlns:a="http://schemas.openxmlformats.org/drawingml/2006/main" w="12700">
            <a:solidFill>
              <a:srgbClr val="8B6CEB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2CEBEE-FEA4-4708-8949-39B34D95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3704"/>
            <a:ext cx="30723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Time pressure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65FAFD-92A4-45DF-B5D4-E9BFF30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1488"/>
            <a:ext cx="3035808" cy="2624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1718F"/>
                </a:solidFill>
                <a:latin typeface="Aptos"/>
                <a:ea typeface="Aptos"/>
                <a:cs typeface="Aptos"/>
              </a:rPr>
              <a:t>Students need to understand priorities and prepare around their real timetable.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8D68A1B-05AF-4168-84A3-00B83AA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993392"/>
            <a:ext cx="3511296" cy="35204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7A3E2CF-54F2-4E84-BE1E-9D88A17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993392"/>
            <a:ext cx="64008" cy="35204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C8EA"/>
          </a:solidFill>
          <a:ln xmlns:a="http://schemas.openxmlformats.org/drawingml/2006/main" w="12700">
            <a:solidFill>
              <a:srgbClr val="38C8EA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D4A96CC-59AD-4228-B296-1AC7B3E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203704"/>
            <a:ext cx="30723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Too many manual steps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F0561D-45C4-4D3C-AC7E-59D8418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61488"/>
            <a:ext cx="3035808" cy="2624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1718F"/>
                </a:solidFill>
                <a:latin typeface="Aptos"/>
                <a:ea typeface="Aptos"/>
                <a:cs typeface="Aptos"/>
              </a:rPr>
              <a:t>Finding information and building an actionable weekly plan takes effort.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9A2963B-5925-4E6C-AFF5-1511562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88736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Our opportunity: turn academic data into clear, personalized next actions.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19112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8A5D97-EBD0-4675-B21D-24F9BAB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580F8F-29B4-4159-8C48-81418C61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334FBA8-4F40-495B-A779-F6094CF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One workspace. One AI assistant.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E081B5-0D2E-4D3E-8350-9AC3741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CampusPulse combines a student LMS with an action-oriented assistant.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786C6F-E2D0-46E4-8275-70CB0DB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03</a:t>
            </a:r>
            <a:endParaRPr sz="1000"/>
          </a:p>
        </p:txBody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87c0d619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874520"/>
            <a:ext cx="8046720" cy="44074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11298EE-79D5-489D-B359-5680B104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892808"/>
            <a:ext cx="2706624" cy="4370832"/>
          </a:xfrm>
          <a:prstGeom xmlns:a="http://schemas.openxmlformats.org/drawingml/2006/main" prst="roundRect">
            <a:avLst>
              <a:gd name="adj" fmla="val 5068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6AD0A66-79D4-423E-B664-01F06DE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221992"/>
            <a:ext cx="2148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hub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4C8879-71D9-454E-A537-C1A541D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7889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Courses &amp; tasks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0DFC864-B8FB-4165-9175-3BC33E8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2461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Schedule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2EFC2D-1843-47E7-9C9A-ADB51B7E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033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Grades &amp; attendance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7812C4E-F318-4705-AF95-833DCB4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41605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Study materials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78953C2-0773-409C-805C-57E290D7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46177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Study planning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A1F78FE-C3EC-4320-AFCF-356151B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5074920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2EAFB"/>
                </a:solidFill>
                <a:latin typeface="Aptos"/>
                <a:ea typeface="Aptos"/>
                <a:cs typeface="Aptos"/>
              </a:rPr>
              <a:t>• AI chat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78721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AB9B05-5F73-464E-9956-42D8D2B3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190D8C-1C6D-40A2-B469-CFBC24F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30904A-3C81-4DC4-8E2A-535057A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How the AI agent works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7308969-375D-4EE1-BF5F-F275143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A structured tool-using workflow, from intent to answer.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A2C292-4E03-4736-BC98-A346DA5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04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7F4DE8D-6FCD-4F43-8020-4F77484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50008"/>
            <a:ext cx="2011680" cy="2103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AB8649-64F8-4933-B355-2535FE1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Student query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5858FD-EF62-4B49-A1F0-D19910A9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447288"/>
            <a:ext cx="17373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A97"/>
                </a:solidFill>
                <a:latin typeface="Aptos"/>
                <a:ea typeface="Aptos"/>
                <a:cs typeface="Aptos"/>
              </a:rPr>
              <a:t>Natural-language request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36C39A-3C3F-4507-8AF1-E8A226C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035808"/>
            <a:ext cx="3017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7A02EF-37FA-4863-962E-4E548A51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0008"/>
            <a:ext cx="2011680" cy="2103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B1BDB3-8B4F-4F4B-9ACF-EE871817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974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agent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62F090-2AE7-4ECB-A907-30F3B32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47288"/>
            <a:ext cx="17373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BBD0FA"/>
                </a:solidFill>
                <a:latin typeface="Aptos"/>
                <a:ea typeface="Aptos"/>
                <a:cs typeface="Aptos"/>
              </a:rPr>
              <a:t>Selects the next action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2B92E5D-8078-471A-82EF-FBD56B4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035808"/>
            <a:ext cx="3017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E4949EF-6D6A-4D0B-A4D3-0D47532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50008"/>
            <a:ext cx="2011680" cy="2103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4599F5-153B-4AE0-900F-ECA29F1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6974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MCP tools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C11F695-1A19-4A2B-A6D9-E4A4765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3447288"/>
            <a:ext cx="17373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A97"/>
                </a:solidFill>
                <a:latin typeface="Aptos"/>
                <a:ea typeface="Aptos"/>
                <a:cs typeface="Aptos"/>
              </a:rPr>
              <a:t>Reads authorized data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8F0440E-0BBF-4BB2-949A-731718E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035808"/>
            <a:ext cx="3017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A03B47D-3D60-4EB5-B6A9-DDA075B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2350008"/>
            <a:ext cx="2011680" cy="2103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B3B9F7-15D9-4615-9F68-896CDF1F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6974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LMS + Firestore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A93C6DC-74C0-41FB-B747-96EA7EE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447288"/>
            <a:ext cx="17373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A97"/>
                </a:solidFill>
                <a:latin typeface="Aptos"/>
                <a:ea typeface="Aptos"/>
                <a:cs typeface="Aptos"/>
              </a:rPr>
              <a:t>Academic records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2EF3A22-4577-4082-B6F8-E79A3004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376" y="3035808"/>
            <a:ext cx="3017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6D93D7E-9D42-4CA5-B0C5-9C40BAF9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2350008"/>
            <a:ext cx="2011680" cy="2103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B3AE25A-DC56-4A19-80D3-4B34E128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26974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Response</a:t>
            </a:r>
            <a:endParaRPr sz="1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780DD80-F6DC-4E2D-B57C-E211A67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3447288"/>
            <a:ext cx="17373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A97"/>
                </a:solidFill>
                <a:latin typeface="Aptos"/>
                <a:ea typeface="Aptos"/>
                <a:cs typeface="Aptos"/>
              </a:rPr>
              <a:t>Useful, grounded result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396359D-8AE0-489E-BD9A-8584D11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5010912"/>
            <a:ext cx="10177272" cy="722376"/>
          </a:xfrm>
          <a:prstGeom xmlns:a="http://schemas.openxmlformats.org/drawingml/2006/main" prst="roundRect">
            <a:avLst>
              <a:gd name="adj" fmla="val 18987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12700">
            <a:solidFill>
              <a:srgbClr val="E7EEFF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AE5615A-31D3-4B3D-BDC3-0BEEFDED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93792"/>
            <a:ext cx="95371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Reasoning loop: interpret  →  choose tool  →  execute  →  use result  →  respond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369267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A32A52-7190-475B-9984-804A9BD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B59A86-234C-4C5F-829E-45AFAC2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D44557-BDF3-4911-A749-1ADF9061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MCP: tools that do real work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33DDD6-9B0E-4745-90DE-4F5BCFAB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The assistant can query different parts of the academic system.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083A2-767B-43D5-BBB0-78C213B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05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E217AE-48A1-4FA7-8C2F-0DC90D78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65960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305DAD-14F3-41EC-B7E4-F72F9E4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185416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B929DE-34DF-45C7-B123-8430FC0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240280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Timetable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6A6016-C837-42EA-B9B3-3D827690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834640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get_schedule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45B6779-EE87-48EE-9980-E1C6603B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965960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4BF2742-C27D-4980-8755-69ACB8F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85416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8B6CEB"/>
          </a:solidFill>
          <a:ln xmlns:a="http://schemas.openxmlformats.org/drawingml/2006/main" w="12700">
            <a:solidFill>
              <a:srgbClr val="8B6CEB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7339BF-6563-45D4-976B-82953DB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240280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Deadlines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A1F2A49-03E6-45B7-9FF4-D9CEB0A5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834640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get_assignments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9ED4804-6F43-4845-9F85-3DA0D305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965960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4FBAA3-C95D-45A2-86E0-B554B56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185416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11A887"/>
          </a:solidFill>
          <a:ln xmlns:a="http://schemas.openxmlformats.org/drawingml/2006/main" w="12700">
            <a:solidFill>
              <a:srgbClr val="11A887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C345048-5109-4F68-ADBB-4B1F4B2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2240280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Performance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F956CEC-CADB-49E8-9F18-230CEAD7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2834640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get_grades / get_attendance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87ADCE9-623B-43D2-B101-6C69B82E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822192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BE579FF-82C0-42F0-B63C-9C64150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41648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E7952D"/>
          </a:solidFill>
          <a:ln xmlns:a="http://schemas.openxmlformats.org/drawingml/2006/main" w="12700">
            <a:solidFill>
              <a:srgbClr val="E7952D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C718EA0-D78C-407E-B5B8-3E86D9C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096512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Materials</a:t>
            </a:r>
            <a:endParaRPr sz="1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12AFA2-F29C-4619-B94B-E4AB0F6B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90872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read_materials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1109019-0B93-471E-B8A0-B1D6764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822192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50AA18B-2DF4-45C2-A4F1-17269C73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041648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D263A3"/>
          </a:solidFill>
          <a:ln xmlns:a="http://schemas.openxmlformats.org/drawingml/2006/main" w="12700">
            <a:solidFill>
              <a:srgbClr val="D263A3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8FC3C6A-D2D6-48EA-BDDE-4D831FBC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096512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Planning</a:t>
            </a:r>
            <a:endParaRPr sz="1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B1BA49C-FAE8-4E54-8880-1458179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690872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plan_study / prepare_study_plan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2A099A3-5C7F-4680-9FCB-2F17664E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822192"/>
            <a:ext cx="3593592" cy="1591056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490A9AB-448A-4643-9C1A-0A094A9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041648"/>
            <a:ext cx="109728" cy="1069848"/>
          </a:xfrm>
          <a:prstGeom xmlns:a="http://schemas.openxmlformats.org/drawingml/2006/main" prst="roundRect">
            <a:avLst>
              <a:gd name="adj" fmla="val 125000"/>
            </a:avLst>
          </a:prstGeom>
          <a:solidFill xmlns:a="http://schemas.openxmlformats.org/drawingml/2006/main">
            <a:srgbClr val="2C94AF"/>
          </a:solidFill>
          <a:ln xmlns:a="http://schemas.openxmlformats.org/drawingml/2006/main" w="12700">
            <a:solidFill>
              <a:srgbClr val="2C94AF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857C521-E5B5-4218-97B8-9C022BB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4096512"/>
            <a:ext cx="2871216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Data access</a:t>
            </a:r>
            <a:endParaRPr sz="1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96D8BB8-188D-4DD8-BDE1-CCD8AC01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4690872"/>
            <a:ext cx="2871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97B9A"/>
                </a:solidFill>
                <a:latin typeface="Aptos"/>
                <a:ea typeface="Aptos"/>
                <a:cs typeface="Aptos"/>
              </a:rPr>
              <a:t>list_data_resources / query_data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5371468-8833-41B0-9475-D51DFACE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527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MCP connects the agent with structured, purpose-built academic tools.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662705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0D3EC6-6997-4A71-B2A7-7059237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1FBA14-7E63-43E9-A976-0B243E80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7F358B-A33F-4E04-8D58-F3B8493E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Academic data with Firestore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A37579-A7A1-4FF1-9D6F-4163B50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A unified source for student-facing information.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04001AC-64E1-4646-BF06-031AE059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06</a:t>
            </a:r>
            <a:endParaRPr sz="10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e30b54b75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965960"/>
            <a:ext cx="6537960" cy="4142232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7977E7F-F9A7-47C4-A342-1901475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965960"/>
            <a:ext cx="4069080" cy="4142232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2870DCF-C630-4988-9A35-88F3795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965960"/>
            <a:ext cx="64008" cy="414223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A887"/>
          </a:solidFill>
          <a:ln xmlns:a="http://schemas.openxmlformats.org/drawingml/2006/main" w="12700">
            <a:solidFill>
              <a:srgbClr val="11A887">
                <a:alpha val="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B78BB8B-AFBC-48AE-90D5-02E50A70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76272"/>
            <a:ext cx="36301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Structured collections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A9D94E-564F-4A6A-8A86-07D58A8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734056"/>
            <a:ext cx="3593592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1718F"/>
                </a:solidFill>
                <a:latin typeface="Aptos"/>
                <a:ea typeface="Aptos"/>
                <a:cs typeface="Aptos"/>
              </a:rPr>
              <a:t>Courses, enrollments, assignments, lessons, grades, attendance and users form the academic data layer.</a:t>
            </a:r>
            <a:endParaRPr sz="1200"/>
          </a:p>
          <a:p xmlns:a="http://schemas.openxmlformats.org/drawingml/2006/main">
            <a:pPr marL="0" indent="0">
              <a:buNone/>
            </a:pP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1718F"/>
                </a:solidFill>
                <a:latin typeface="Aptos"/>
                <a:ea typeface="Aptos"/>
                <a:cs typeface="Aptos"/>
              </a:rPr>
              <a:t>The agent retrieves relevant information through the LMS tool layer.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3974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973B5B-D058-4D9B-9050-D4CC523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36A0F4-687F-49F3-A997-F6D8CBD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D48D03-0A76-427C-913E-7527CCC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Designed around student workflows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49E550-5ACF-4ED2-86CE-7E467E6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A usable LMS and an AI chat available in the same interface.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FB5CDF-0D14-465B-91E1-B48DD9E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07</a:t>
            </a:r>
            <a:endParaRPr sz="1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51cd0ed96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" y="1865376"/>
            <a:ext cx="8119872" cy="4453128"/>
          </a:xfrm>
          <a:prstGeom xmlns:a="http://schemas.openxmlformats.org/drawingml/2006/main" prst="rect">
            <a:avLst/>
          </a:prstGeom>
        </p:spPr>
      </p:pic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56bf8275041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8552" y="1965960"/>
            <a:ext cx="2404872" cy="4251960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C874797-D45D-45E0-A787-D51859E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291072"/>
            <a:ext cx="10607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Browse course data, then ask the assistant to turn it into a plan.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14740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BC96A7-9CE4-4B5A-879E-9E697829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2B90BE-8603-4E09-BCC1-55699C9B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8D67F7-4D15-4CC8-873F-9A4B7C8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Three questions. Clear academic actions.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01E33D-A400-46BD-A35B-CB16E01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Demo scenarios showcasing the agent’s tool selection.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E84653-83CA-4EBD-9986-C033EDB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08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BA9F453-B549-4144-AAFC-598736B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20240"/>
            <a:ext cx="10826496" cy="1161288"/>
          </a:xfrm>
          <a:prstGeom xmlns:a="http://schemas.openxmlformats.org/drawingml/2006/main" prst="roundRect">
            <a:avLst>
              <a:gd name="adj" fmla="val 12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C299DA-FBCE-4549-AD8A-724C310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67128"/>
            <a:ext cx="621792" cy="621792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91F286-BDA5-43DB-B7E3-3FA60BE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313432"/>
            <a:ext cx="3749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52AB07-C91F-488C-B220-319984A1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148840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What are my nearest deadlines?</a:t>
            </a:r>
            <a:endParaRPr sz="1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4BBE00-7263-4840-8147-792FCB3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606040"/>
            <a:ext cx="88696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793"/>
                </a:solidFill>
                <a:latin typeface="Aptos"/>
                <a:ea typeface="Aptos"/>
                <a:cs typeface="Aptos"/>
              </a:rPr>
              <a:t>Retrieve assignments and order by due date.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B871CF3-7748-425D-94FC-1F34B377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337560"/>
            <a:ext cx="10826496" cy="1161288"/>
          </a:xfrm>
          <a:prstGeom xmlns:a="http://schemas.openxmlformats.org/drawingml/2006/main" prst="roundRect">
            <a:avLst>
              <a:gd name="adj" fmla="val 12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7DB6B30-66BF-47F7-BB1A-AE67704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84448"/>
            <a:ext cx="621792" cy="621792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45B4726-AC66-4C58-8C71-87A6B1BE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30752"/>
            <a:ext cx="3749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DDA5A9-4B1F-45D6-B509-86FDF973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3566160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Build my study plan for this week.</a:t>
            </a:r>
            <a:endParaRPr sz="1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831E2D-E3E1-41EB-AF20-BF93236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4023360"/>
            <a:ext cx="88696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793"/>
                </a:solidFill>
                <a:latin typeface="Aptos"/>
                <a:ea typeface="Aptos"/>
                <a:cs typeface="Aptos"/>
              </a:rPr>
              <a:t>Combine timetable and workload into a practical plan.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1CE7C31-ADE3-4A6A-A47D-F55A9E0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754880"/>
            <a:ext cx="10826496" cy="1161288"/>
          </a:xfrm>
          <a:prstGeom xmlns:a="http://schemas.openxmlformats.org/drawingml/2006/main" prst="roundRect">
            <a:avLst>
              <a:gd name="adj" fmla="val 12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D7F4C92-D399-4EC2-A3D4-D555B60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01768"/>
            <a:ext cx="621792" cy="621792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B8087FE-F4CA-4A61-B6F7-AFD9A14E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48072"/>
            <a:ext cx="3749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235194A-FCB1-45C4-BF4A-8B080574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4983480"/>
            <a:ext cx="8046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How am I doing in Calculus?</a:t>
            </a:r>
            <a:endParaRPr sz="1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A653DA-94AD-4A42-824F-D93912F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5440680"/>
            <a:ext cx="88696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793"/>
                </a:solidFill>
                <a:latin typeface="Aptos"/>
                <a:ea typeface="Aptos"/>
                <a:cs typeface="Aptos"/>
              </a:rPr>
              <a:t>Use performance and attendance records to explain progress.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61585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4E9CEE0-81A1-4692-AA71-62467A0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822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6CFF"/>
          </a:solidFill>
          <a:ln xmlns:a="http://schemas.openxmlformats.org/drawingml/2006/main" w="12700">
            <a:solidFill>
              <a:srgbClr val="356CFF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BE22ED-DD0F-420B-B16C-22D0640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356CFF"/>
                </a:solidFill>
                <a:latin typeface="Aptos"/>
                <a:ea typeface="Aptos"/>
                <a:cs typeface="Aptos"/>
              </a:rPr>
              <a:t>CAMPUSPULSE / AI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6D10B9-AED2-4532-A243-0F3AD36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"/>
            <a:ext cx="1097280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Architecture &amp; technology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D7B1BA-BCD9-45BB-962D-2FA1824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57594"/>
                </a:solidFill>
                <a:latin typeface="Aptos"/>
                <a:ea typeface="Aptos"/>
                <a:cs typeface="Aptos"/>
              </a:rPr>
              <a:t>Modular design connecting frontend, APIs, tools and data.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1DD295-D4CD-4C72-8163-E3D19B2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47395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8999B5"/>
                </a:solidFill>
                <a:latin typeface="Aptos"/>
                <a:ea typeface="Aptos"/>
                <a:cs typeface="Aptos"/>
              </a:rPr>
              <a:t>09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8E28EF8-4604-46D2-B60B-F863504F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029968"/>
            <a:ext cx="2057400" cy="19202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8D4FB9-1EA8-4986-B060-9C1DA91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Web LMS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72EB72-5A0B-4AE2-A4B3-4E744EE3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127248"/>
            <a:ext cx="1737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F7F9B"/>
                </a:solidFill>
                <a:latin typeface="Aptos"/>
                <a:ea typeface="Aptos"/>
                <a:cs typeface="Aptos"/>
              </a:rPr>
              <a:t>Student UI + AI chat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A89A3CD-3A64-4EEF-8B25-EDFDA97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715768"/>
            <a:ext cx="2468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F826903-779D-43FF-9EE0-C966592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029968"/>
            <a:ext cx="2057400" cy="19202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C0D792B-70A1-40FC-840B-9659DF3F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331720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Python backend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7B2C1D6-5DBC-4B79-9E98-6E3BC1C4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127248"/>
            <a:ext cx="1737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F7F9B"/>
                </a:solidFill>
                <a:latin typeface="Aptos"/>
                <a:ea typeface="Aptos"/>
                <a:cs typeface="Aptos"/>
              </a:rPr>
              <a:t>API and access rules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2C54D64-FD34-48EA-B2EC-851BB8B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715768"/>
            <a:ext cx="2468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3BC7A0D-BEA7-40B6-AB3D-C3BB88D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029968"/>
            <a:ext cx="2057400" cy="19202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8D9FDE-9D0B-47C6-BF10-E8AE2A1E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331720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orchestration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FD30EF-D74D-414C-BB9B-151E26F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127248"/>
            <a:ext cx="1737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B6C8EB"/>
                </a:solidFill>
                <a:latin typeface="Aptos"/>
                <a:ea typeface="Aptos"/>
                <a:cs typeface="Aptos"/>
              </a:rPr>
              <a:t>Gemini / function calling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9363CB-9FCD-498F-BF9E-45A4402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715768"/>
            <a:ext cx="2468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B46FA84-8B02-446B-B618-815A7F9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029968"/>
            <a:ext cx="2057400" cy="19202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3B9FA8F-3642-4FE3-B7A9-20C57DC4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331720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FastMCP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29E0296-63A4-4A4C-A21A-CECB2963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127248"/>
            <a:ext cx="1737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F7F9B"/>
                </a:solidFill>
                <a:latin typeface="Aptos"/>
                <a:ea typeface="Aptos"/>
                <a:cs typeface="Aptos"/>
              </a:rPr>
              <a:t>Academic tool endpoints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1FAA5D6-ECB9-4B2C-8D5D-7A3B8CA3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715768"/>
            <a:ext cx="2468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→</a:t>
            </a:r>
            <a:endParaRPr sz="2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B5BDA4A-D895-4E84-BF7A-1561E283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029968"/>
            <a:ext cx="2057400" cy="192024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FE7F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0CB5018-AECF-4C5B-A011-901F920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84" y="2331720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A45"/>
                </a:solidFill>
                <a:latin typeface="Aptos"/>
                <a:ea typeface="Aptos"/>
                <a:cs typeface="Aptos"/>
              </a:rPr>
              <a:t>Firestore</a:t>
            </a:r>
            <a:endParaRPr sz="17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784952E-8C6F-4D3A-9B7B-ECD007DB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127248"/>
            <a:ext cx="1737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F7F9B"/>
                </a:solidFill>
                <a:latin typeface="Aptos"/>
                <a:ea typeface="Aptos"/>
                <a:cs typeface="Aptos"/>
              </a:rPr>
              <a:t>Structured records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391F0C6-5666-4B3A-9555-E2B3695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9857232" cy="795528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2700">
            <a:solidFill>
              <a:srgbClr val="E5EDFF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F7CFB1B-8415-4531-9E1D-A71F7D04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47488"/>
            <a:ext cx="9290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356CFF"/>
                </a:solidFill>
                <a:latin typeface="Aptos"/>
                <a:ea typeface="Aptos"/>
                <a:cs typeface="Aptos"/>
              </a:rPr>
              <a:t>Separation of concerns: interface  •  agent  •  MCP  •  LMS services  •  database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53029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B55AC2-8A74-4944-B1EA-868BD57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152144"/>
            <a:ext cx="10058400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CampusPulse AI</a:t>
            </a:r>
            <a:endParaRPr sz="4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C6DA4B-AA58-4D28-AC72-EC63895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10058400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>
                <a:solidFill>
                  <a:srgbClr val="BAD0FF"/>
                </a:solidFill>
                <a:latin typeface="Aptos"/>
                <a:ea typeface="Aptos"/>
                <a:cs typeface="Aptos"/>
              </a:rPr>
              <a:t>From academic information to intelligent action.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F53BF6-AA55-4786-9090-5F691E97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479024" cy="822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3157"/>
          </a:solidFill>
          <a:ln xmlns:a="http://schemas.openxmlformats.org/drawingml/2006/main" w="12700">
            <a:solidFill>
              <a:srgbClr val="1B3157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1FEE8E-6B91-48C5-8DDB-96081160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25196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student workspace  •  Real academic tools  •  Personalized guidance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821A4E-EA67-4A15-AAF1-4AD5C0A2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852160"/>
            <a:ext cx="36576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8EB6FF"/>
                </a:solidFill>
                <a:latin typeface="Aptos"/>
                <a:ea typeface="Aptos"/>
                <a:cs typeface="Aptos"/>
              </a:rPr>
              <a:t>Thank you!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7642635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2026-10-20T17:05:43.7760000Z</dcterms:created>
  <dcterms:modified xsi:type="dcterms:W3CDTF">2026-10-20T17:05:43.7760000Z</dcterms:modified>
</coreProperties>
</file>