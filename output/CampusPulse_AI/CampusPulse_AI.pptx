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0f7056894a413b" /><Relationship Type="http://schemas.openxmlformats.org/officeDocument/2006/relationships/extended-properties" Target="/docProps/app.xml" Id="R92f855f69a19439c" /><Relationship Type="http://schemas.openxmlformats.org/officeDocument/2006/relationships/officeDocument" Target="/ppt/presentation.xml" Id="R64a925991b6048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9875a0864543d6"/>
  </p:sldMasterIdLst>
  <p:notesMasterIdLst>
    <p:notesMasterId xmlns:r="http://schemas.openxmlformats.org/officeDocument/2006/relationships" r:id="Raf3eed0f252c4e81"/>
  </p:notesMasterIdLst>
  <p:sldIdLst>
    <p:sldId xmlns:r="http://schemas.openxmlformats.org/officeDocument/2006/relationships" id="256" r:id="Rf2efed6cfe794f3a"/>
    <p:sldId xmlns:r="http://schemas.openxmlformats.org/officeDocument/2006/relationships" id="257" r:id="Rbf683490f9e144f1"/>
    <p:sldId xmlns:r="http://schemas.openxmlformats.org/officeDocument/2006/relationships" id="258" r:id="Rd379a7cb04c94f4c"/>
    <p:sldId xmlns:r="http://schemas.openxmlformats.org/officeDocument/2006/relationships" id="259" r:id="Rfa211a1b832e4ec0"/>
    <p:sldId xmlns:r="http://schemas.openxmlformats.org/officeDocument/2006/relationships" id="260" r:id="R774b2b79973c4ff9"/>
    <p:sldId xmlns:r="http://schemas.openxmlformats.org/officeDocument/2006/relationships" id="261" r:id="Ref16d3e33a3840ca"/>
    <p:sldId xmlns:r="http://schemas.openxmlformats.org/officeDocument/2006/relationships" id="262" r:id="Rc4d153e5cb6c4b46"/>
    <p:sldId xmlns:r="http://schemas.openxmlformats.org/officeDocument/2006/relationships" id="263" r:id="Rb32f94d58d954eb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17ec65c6a64c1e" /><Relationship Type="http://schemas.openxmlformats.org/officeDocument/2006/relationships/slideMaster" Target="/ppt/slideMasters/slideMaster1.xml" Id="R379875a0864543d6" /><Relationship Type="http://schemas.openxmlformats.org/officeDocument/2006/relationships/notesMaster" Target="/ppt/notesMasters/notesMaster1.xml" Id="Raf3eed0f252c4e81" /><Relationship Type="http://schemas.openxmlformats.org/officeDocument/2006/relationships/presProps" Target="/ppt/presProps.xml" Id="R9563e9a261be420b" /><Relationship Type="http://schemas.openxmlformats.org/officeDocument/2006/relationships/tableStyles" Target="/ppt/tableStyles.xml" Id="R86360673aa8c436f" /><Relationship Type="http://schemas.openxmlformats.org/officeDocument/2006/relationships/slide" Target="/ppt/slides/slide1.xml" Id="Rf2efed6cfe794f3a" /><Relationship Type="http://schemas.openxmlformats.org/officeDocument/2006/relationships/slide" Target="/ppt/slides/slide2.xml" Id="Rbf683490f9e144f1" /><Relationship Type="http://schemas.openxmlformats.org/officeDocument/2006/relationships/slide" Target="/ppt/slides/slide3.xml" Id="Rd379a7cb04c94f4c" /><Relationship Type="http://schemas.openxmlformats.org/officeDocument/2006/relationships/slide" Target="/ppt/slides/slide4.xml" Id="Rfa211a1b832e4ec0" /><Relationship Type="http://schemas.openxmlformats.org/officeDocument/2006/relationships/slide" Target="/ppt/slides/slide5.xml" Id="R774b2b79973c4ff9" /><Relationship Type="http://schemas.openxmlformats.org/officeDocument/2006/relationships/slide" Target="/ppt/slides/slide6.xml" Id="Ref16d3e33a3840ca" /><Relationship Type="http://schemas.openxmlformats.org/officeDocument/2006/relationships/slide" Target="/ppt/slides/slide7.xml" Id="Rc4d153e5cb6c4b46" /><Relationship Type="http://schemas.openxmlformats.org/officeDocument/2006/relationships/slide" Target="/ppt/slides/slide8.xml" Id="Rb32f94d58d954e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2243e2a39a4b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9b9ebeb75e4a2c" /><Relationship Type="http://schemas.openxmlformats.org/officeDocument/2006/relationships/notesMaster" Target="/ppt/notesMasters/notesMaster1.xml" Id="R3059170f092a49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b4278d41f74553" /><Relationship Type="http://schemas.openxmlformats.org/officeDocument/2006/relationships/notesMaster" Target="/ppt/notesMasters/notesMaster1.xml" Id="Rbf9de0103c954a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c2b2a786fc4748" /><Relationship Type="http://schemas.openxmlformats.org/officeDocument/2006/relationships/notesMaster" Target="/ppt/notesMasters/notesMaster1.xml" Id="R0aee925055c34b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d5549eb9084439" /><Relationship Type="http://schemas.openxmlformats.org/officeDocument/2006/relationships/notesMaster" Target="/ppt/notesMasters/notesMaster1.xml" Id="R098520974bfd43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21d2ef1d5a4925" /><Relationship Type="http://schemas.openxmlformats.org/officeDocument/2006/relationships/notesMaster" Target="/ppt/notesMasters/notesMaster1.xml" Id="R8a5ae937032447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c2612b64b0e4388" /><Relationship Type="http://schemas.openxmlformats.org/officeDocument/2006/relationships/notesMaster" Target="/ppt/notesMasters/notesMaster1.xml" Id="R5a2925d654c44e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8cac943c2d24551" /><Relationship Type="http://schemas.openxmlformats.org/officeDocument/2006/relationships/notesMaster" Target="/ppt/notesMasters/notesMaster1.xml" Id="Rcf2827265ab541f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605781d10ae43a9" /><Relationship Type="http://schemas.openxmlformats.org/officeDocument/2006/relationships/notesMaster" Target="/ppt/notesMasters/notesMaster1.xml" Id="R30b4efa3dafc4c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0:00–0:30. CampusPulse AI — прототип для второй задачи GDG Astana. Сразу обозначить статус: работает локальный режим с настоящим MCP; Gemini и Agent Engine ещё не проверены живым сервисом. Основание: условие второй задачи в пользовательском PDF, страницы 3–4.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0:30–1:15. Это иллюстративный сценарий, а не статистика. При 180 минутах работы и 60 минутах доступной ёмкости до дедлайна планировщик сообщает о 120 минутах дефицита. Сценарий покрыт тестом test_insufficient_capacity_reported_without_overbooking. Целевая аудитория: студенты программирования, использующие GitHub и конспекты.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1:15–2:15. Снимок реального интерфейса CampusPulse, 17 октября 2026. Данные на снимке — явно отмеченные учебные примеры. План рассчитан программой через MCP; Gemini не вызывался. При живом показе изменить дневную нагрузку и пересчитать расписание. Скриншот создан из локального приложения, а не является макетом.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2:15–3:10. Клиент выполняет initialize, tools/list и tools/call. Каждый запрос получает отдельный серверный процесс. GitHub запрашивается в реальном времени, без готового датасета. Во время проверки публичный GitHub вернул HTTP 403 rate limit exceeded — успешное получение живых issues не заявляем. Источник MCP: https://github.com/modelcontextprotocol/python-sdk . Реализация: campuspulse/mcp_server.py, tools.py.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3:10–3:55. Подготовлен ручной цикл function calling. Gemini получает схемы инструментов; программа исполняет tool call, возвращает function response и получает следующий ответ. Сохраняются ID и thought signatures. Максимум 6 модельных шагов и 12 вызовов инструментов. Это код подготовленного режима Gemini; реальный сервис не вызывался. В локальном режиме инструмент выбирает фиксированный маршрутизатор. Журнал отображает действия и результаты, а не приватные мысли модели. Источник: https://googleapis.github.io/python-genai/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3:55–4:40. Нет автоматической записи в Google Calendar: только ручной экспорт ICS. Материалы передаются локальному серверу и не сохраняются на диске; задания остаются в browser localStorage. В Gemini-режиме материал может попасть в Google Cloud, поэтому режим требует отдельного разрешения и сейчас отключён. Содержимое документов и issues — недоверенные данные. Ограничение операций уменьшает риск prompt injection, но не доказывает полную защищённость модели.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4:40–5:30. Не объявлять полное соответствие: обязательное размещение в Agent Engine ещё не выполнено. Локально проверены MCP, планировщик, материалы и HTTP API. Gemini loop проверен с подменённой моделью. Облачный скрипт использует ReasoningEngine.create и по умолчанию выполняет только dry-run. Нужен разрешённый бесплатный проект организаторов. Источник требований: пользовательский PDF, задача 2, страницы 3–4. Технический источник: https://docs.cloud.google.com/python/docs/reference/vertexai/latest/vertexai.preview.reasoning_engines.ReasoningEngine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5:30–6:15. Запросить у организаторов проект с разрешённым бесплатным использованием, без личной предоплаты. Уточнить, кто несёт расходы и что будет после исчерпания кредитов: бюджетное уведомление не является жёстким лимитом. После разрешения проверить настоящий Gemini и Agent Engine, затем записать облачное демо. Для оценки пользы нужен пилот; улучшение успеваемости и экономия времени пока не измерены.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e52a0af364440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7bc8422ee6478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d7119bca1a4e0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feff8a205b48b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ecc0679b27439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3e290536ea4e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58D5C50-0DE8-4F40-AE00-8764C41B36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7B6DD41-AEAD-43D3-9BE8-D372C47BF8A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CE88B0D-E2A7-4A97-8AF4-96D0CC14CF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E3B423D-2D92-4217-BE1B-0EC24C09BD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532874D-62FB-4CCD-ABC8-C2121FACE8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7F477D8-2671-4A97-9AFA-A8609DFA5C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68EC959-0D50-4DD6-B394-85E90D0553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1703D50-691F-451E-BFB0-A6F4996379C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EC9DF5-7445-40A2-A3F1-E5F80EF2AB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E39F14C-A339-4661-959E-582DEB9092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aaf09b994e49af" /><Relationship Type="http://schemas.openxmlformats.org/officeDocument/2006/relationships/slideLayout" Target="/ppt/slideLayouts/slideLayout1.xml" Id="Rb1663ba5f1b94d37" /><Relationship Type="http://schemas.openxmlformats.org/officeDocument/2006/relationships/slideLayout" Target="/ppt/slideLayouts/slideLayout2.xml" Id="R7d61c817e05e402c" /><Relationship Type="http://schemas.openxmlformats.org/officeDocument/2006/relationships/slideLayout" Target="/ppt/slideLayouts/slideLayout3.xml" Id="Ra4f9b84e14464f37" /><Relationship Type="http://schemas.openxmlformats.org/officeDocument/2006/relationships/slideLayout" Target="/ppt/slideLayouts/slideLayout4.xml" Id="Ra3d1732f0fef43f3" /><Relationship Type="http://schemas.openxmlformats.org/officeDocument/2006/relationships/slideLayout" Target="/ppt/slideLayouts/slideLayout5.xml" Id="R3d75ab69349c45f8" /><Relationship Type="http://schemas.openxmlformats.org/officeDocument/2006/relationships/slideLayout" Target="/ppt/slideLayouts/slideLayout6.xml" Id="R3e1f887ffc7047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663ba5f1b94d37"/>
    <p:sldLayoutId xmlns:r="http://schemas.openxmlformats.org/officeDocument/2006/relationships" id="2147483650" r:id="R7d61c817e05e402c"/>
    <p:sldLayoutId xmlns:r="http://schemas.openxmlformats.org/officeDocument/2006/relationships" id="2147483651" r:id="Ra4f9b84e14464f37"/>
    <p:sldLayoutId xmlns:r="http://schemas.openxmlformats.org/officeDocument/2006/relationships" id="2147483652" r:id="Ra3d1732f0fef43f3"/>
    <p:sldLayoutId xmlns:r="http://schemas.openxmlformats.org/officeDocument/2006/relationships" id="2147483653" r:id="R3d75ab69349c45f8"/>
    <p:sldLayoutId xmlns:r="http://schemas.openxmlformats.org/officeDocument/2006/relationships" id="2147483654" r:id="R3e1f887ffc7047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dd0e5039c841ee" /><Relationship Type="http://schemas.openxmlformats.org/officeDocument/2006/relationships/notesSlide" Target="/ppt/notesSlides/notesSlide1.xml" Id="Rece0002d38a148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d0b81970104475" /><Relationship Type="http://schemas.openxmlformats.org/officeDocument/2006/relationships/notesSlide" Target="/ppt/notesSlides/notesSlide2.xml" Id="R8abfe12bc3e347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44b665b44c472b" /><Relationship Type="http://schemas.openxmlformats.org/officeDocument/2006/relationships/image" Target="/ppt/media/image.jpeg" Id="R9d3600d5e09245fa" /><Relationship Type="http://schemas.openxmlformats.org/officeDocument/2006/relationships/notesSlide" Target="/ppt/notesSlides/notesSlide3.xml" Id="R575a3d2ef1cb45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e10c3f30944c3d" /><Relationship Type="http://schemas.openxmlformats.org/officeDocument/2006/relationships/notesSlide" Target="/ppt/notesSlides/notesSlide4.xml" Id="Rb328aae47dc040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4853ea5178433e" /><Relationship Type="http://schemas.openxmlformats.org/officeDocument/2006/relationships/notesSlide" Target="/ppt/notesSlides/notesSlide5.xml" Id="Ra09bb9d76fa24b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34df31ed25481c" /><Relationship Type="http://schemas.openxmlformats.org/officeDocument/2006/relationships/notesSlide" Target="/ppt/notesSlides/notesSlide6.xml" Id="R61dc09c93e9e43f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49a432d4914d53" /><Relationship Type="http://schemas.openxmlformats.org/officeDocument/2006/relationships/notesSlide" Target="/ppt/notesSlides/notesSlide7.xml" Id="Reeb46bc5a148424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0e7e485fc7463f" /><Relationship Type="http://schemas.openxmlformats.org/officeDocument/2006/relationships/notesSlide" Target="/ppt/notesSlides/notesSlide8.xml" Id="Rc514d945711e432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92D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E77B5F-2C8D-4DC5-8B24-02029351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CampusPulse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F04D7D-39F4-445B-B99A-CD851EFC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861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0">
                <a:solidFill>
                  <a:srgbClr val="E1EB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2850" b="0">
                <a:solidFill>
                  <a:srgbClr val="E1EBDF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E1EBDF"/>
                </a:solidFill>
                <a:latin typeface="Arial"/>
                <a:ea typeface="Arial"/>
                <a:cs typeface="Arial"/>
              </a:rPr>
              <a:t>Учебная неделя с проверяемым планом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928368-8270-4626-A664-433CEFAA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D6F19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950" b="0">
                <a:solidFill>
                  <a:srgbClr val="D6F19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6F19C"/>
                </a:solidFill>
                <a:latin typeface="Arial"/>
                <a:ea typeface="Arial"/>
                <a:cs typeface="Arial"/>
              </a:rPr>
              <a:t>Локальный MVP · настоящий MCP · облачные вызовы выключены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A45BDE-3565-4307-AB6E-5C0804BA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A5BA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725" b="0">
                <a:solidFill>
                  <a:srgbClr val="A5BAA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5BAAA"/>
                </a:solidFill>
                <a:latin typeface="Arial"/>
                <a:ea typeface="Arial"/>
                <a:cs typeface="Arial"/>
              </a:rPr>
              <a:t>Build with AI / GDG Astana · Задача 2</a:t>
            </a:r>
          </a:p>
        </p:txBody>
      </p:sp>
    </p:spTree>
    <p:extLst>
      <p:ext uri="{BB962C8B-B14F-4D97-AF65-F5344CB8AC3E}">
        <p14:creationId xmlns:p14="http://schemas.microsoft.com/office/powerpoint/2010/main" val="3470206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C40B5D-9BD4-408E-B017-CA18A80A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029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2029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92A"/>
                </a:solidFill>
                <a:latin typeface="Arial"/>
                <a:ea typeface="Arial"/>
                <a:cs typeface="Arial"/>
              </a:rPr>
              <a:t>Дедлайны и доступное время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9C0231-AD70-44AC-A350-18297BB5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5334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00" b="1">
                <a:solidFill>
                  <a:srgbClr val="3568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3900" b="1">
                <a:solidFill>
                  <a:srgbClr val="356852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356852"/>
                </a:solidFill>
                <a:latin typeface="Arial"/>
                <a:ea typeface="Arial"/>
                <a:cs typeface="Arial"/>
              </a:rPr>
              <a:t>Студент знает,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3900" b="1">
                <a:solidFill>
                  <a:srgbClr val="356852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356852"/>
                </a:solidFill>
                <a:latin typeface="Arial"/>
                <a:ea typeface="Arial"/>
                <a:cs typeface="Arial"/>
              </a:rPr>
              <a:t>когда сдавать.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F62F8E-C4EF-4C9B-807F-5D2E0093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5334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0">
                <a:solidFill>
                  <a:srgbClr val="2029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3450" b="0">
                <a:solidFill>
                  <a:srgbClr val="20292A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20292A"/>
                </a:solidFill>
                <a:latin typeface="Arial"/>
                <a:ea typeface="Arial"/>
                <a:cs typeface="Arial"/>
              </a:rPr>
              <a:t>Но хватает ли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3450" b="0">
                <a:solidFill>
                  <a:srgbClr val="20292A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20292A"/>
                </a:solidFill>
                <a:latin typeface="Arial"/>
                <a:ea typeface="Arial"/>
                <a:cs typeface="Arial"/>
              </a:rPr>
              <a:t>времени на работу?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732AEF-E08B-41AA-BF2E-EC28836E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92405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7380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875" b="0">
                <a:solidFill>
                  <a:srgbClr val="7380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38075"/>
                </a:solidFill>
                <a:latin typeface="Arial"/>
                <a:ea typeface="Arial"/>
                <a:cs typeface="Arial"/>
              </a:rPr>
              <a:t>Пример расчёта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9EA2C9-E5E7-44E1-954C-B3D5078A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19375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2029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3000" b="1">
                <a:solidFill>
                  <a:srgbClr val="20292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292A"/>
                </a:solidFill>
                <a:latin typeface="Arial"/>
                <a:ea typeface="Arial"/>
                <a:cs typeface="Arial"/>
              </a:rPr>
              <a:t>180 мин работы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3000" b="1">
                <a:solidFill>
                  <a:srgbClr val="20292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292A"/>
                </a:solidFill>
                <a:latin typeface="Arial"/>
                <a:ea typeface="Arial"/>
                <a:cs typeface="Arial"/>
              </a:rPr>
              <a:t>60 мин доступно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D8B622-C106-48EC-B4F5-147C9980C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52950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3568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2250" b="0">
                <a:solidFill>
                  <a:srgbClr val="35685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56852"/>
                </a:solidFill>
                <a:latin typeface="Arial"/>
                <a:ea typeface="Arial"/>
                <a:cs typeface="Arial"/>
              </a:rPr>
              <a:t>120 мин не помещаются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2250" b="0">
                <a:solidFill>
                  <a:srgbClr val="35685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56852"/>
                </a:solidFill>
                <a:latin typeface="Arial"/>
                <a:ea typeface="Arial"/>
                <a:cs typeface="Arial"/>
              </a:rPr>
              <a:t>до дедлайна</a:t>
            </a:r>
          </a:p>
        </p:txBody>
      </p:sp>
    </p:spTree>
    <p:extLst>
      <p:ext uri="{BB962C8B-B14F-4D97-AF65-F5344CB8AC3E}">
        <p14:creationId xmlns:p14="http://schemas.microsoft.com/office/powerpoint/2010/main" val="13643101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9F9203-CCE1-4183-8F76-FE0DED5D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029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2029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92A"/>
                </a:solidFill>
                <a:latin typeface="Arial"/>
                <a:ea typeface="Arial"/>
                <a:cs typeface="Arial"/>
              </a:rPr>
              <a:t>Работающий локальный прототип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C23A12-8DD6-474A-BCC4-D2A569AA54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3600d5e09245fa"/>
          <a:stretch xmlns:a="http://schemas.openxmlformats.org/drawingml/2006/main"/>
        </p:blipFill>
        <p:spPr>
          <a:xfrm xmlns:a="http://schemas.openxmlformats.org/drawingml/2006/main">
            <a:off x="1222197" y="1200150"/>
            <a:ext cx="9747607" cy="5486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4191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1A3F49-E19B-4E4B-83AC-AE304F8F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029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2029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92A"/>
                </a:solidFill>
                <a:latin typeface="Arial"/>
                <a:ea typeface="Arial"/>
                <a:cs typeface="Arial"/>
              </a:rPr>
              <a:t>Инструменты через MCP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7C1D3A-02FD-4B25-AE19-D1ED39E0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4048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3568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2250" b="1">
                <a:solidFill>
                  <a:srgbClr val="35685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56852"/>
                </a:solidFill>
                <a:latin typeface="Arial"/>
                <a:ea typeface="Arial"/>
                <a:cs typeface="Arial"/>
              </a:rPr>
              <a:t>list_assignments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EDA32B-3C9F-48AA-90FB-D03A10EB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66900"/>
            <a:ext cx="6381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2029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2100" b="0">
                <a:solidFill>
                  <a:srgbClr val="2029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92A"/>
                </a:solidFill>
                <a:latin typeface="Arial"/>
                <a:ea typeface="Arial"/>
                <a:cs typeface="Arial"/>
              </a:rPr>
              <a:t>Текущие задания, введённые студентом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352568-8CBD-4AA9-BA24-39B1B49B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4048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3568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2250" b="1">
                <a:solidFill>
                  <a:srgbClr val="35685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56852"/>
                </a:solidFill>
                <a:latin typeface="Arial"/>
                <a:ea typeface="Arial"/>
                <a:cs typeface="Arial"/>
              </a:rPr>
              <a:t>github_assignments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446F0D-798F-47BD-A9F2-449939EA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19400"/>
            <a:ext cx="6381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2029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2100" b="0">
                <a:solidFill>
                  <a:srgbClr val="2029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92A"/>
                </a:solidFill>
                <a:latin typeface="Arial"/>
                <a:ea typeface="Arial"/>
                <a:cs typeface="Arial"/>
              </a:rPr>
              <a:t>Публичные issues и даты milestone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B4D419-6AFC-488D-9C90-F0F48A9C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4048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3568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2250" b="1">
                <a:solidFill>
                  <a:srgbClr val="35685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56852"/>
                </a:solidFill>
                <a:latin typeface="Arial"/>
                <a:ea typeface="Arial"/>
                <a:cs typeface="Arial"/>
              </a:rPr>
              <a:t>plan_week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F7C4D8-8F89-44AE-AEE2-F3BAB442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71900"/>
            <a:ext cx="6381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2029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2100" b="0">
                <a:solidFill>
                  <a:srgbClr val="2029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92A"/>
                </a:solidFill>
                <a:latin typeface="Arial"/>
                <a:ea typeface="Arial"/>
                <a:cs typeface="Arial"/>
              </a:rPr>
              <a:t>Учебные блоки и риск перегрузки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5C5B3D-575E-4EE8-AB6D-11F5B97A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4048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3568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2250" b="1">
                <a:solidFill>
                  <a:srgbClr val="35685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56852"/>
                </a:solidFill>
                <a:latin typeface="Arial"/>
                <a:ea typeface="Arial"/>
                <a:cs typeface="Arial"/>
              </a:rPr>
              <a:t>search_notes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4F2D21-362A-4482-92D8-0AE514B2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724400"/>
            <a:ext cx="6381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2029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2100" b="0">
                <a:solidFill>
                  <a:srgbClr val="2029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92A"/>
                </a:solidFill>
                <a:latin typeface="Arial"/>
                <a:ea typeface="Arial"/>
                <a:cs typeface="Arial"/>
              </a:rPr>
              <a:t>Цитаты с именами загруженных файлов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6E2765-C131-4C7C-A957-9C6A657F4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7380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800" b="0">
                <a:solidFill>
                  <a:srgbClr val="7380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38075"/>
                </a:solidFill>
                <a:latin typeface="Arial"/>
                <a:ea typeface="Arial"/>
                <a:cs typeface="Arial"/>
              </a:rPr>
              <a:t>MCP stdio · отдельная сессия на запрос · операции на чтение</a:t>
            </a:r>
          </a:p>
        </p:txBody>
      </p:sp>
    </p:spTree>
    <p:extLst>
      <p:ext uri="{BB962C8B-B14F-4D97-AF65-F5344CB8AC3E}">
        <p14:creationId xmlns:p14="http://schemas.microsoft.com/office/powerpoint/2010/main" val="16374100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92D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7B9EBC-4E5A-488F-A638-6E3F3EF5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Цикл агента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892D10-0B20-4A15-A1F3-B1F7B934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33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Запрос → Выбор инструмента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BA3EA3-49E7-4989-8509-5221F7BC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75" b="1">
                <a:solidFill>
                  <a:srgbClr val="D6F19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3375" b="1">
                <a:solidFill>
                  <a:srgbClr val="D6F19C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D6F19C"/>
                </a:solidFill>
                <a:latin typeface="Arial"/>
                <a:ea typeface="Arial"/>
                <a:cs typeface="Arial"/>
              </a:rPr>
              <a:t>Результат инструмента → Ответ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A19F86-8F98-4E59-A5FD-5E8A5339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DDE7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2250" b="0">
                <a:solidFill>
                  <a:srgbClr val="DDE7D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DE7DA"/>
                </a:solidFill>
                <a:latin typeface="Arial"/>
                <a:ea typeface="Arial"/>
                <a:cs typeface="Arial"/>
              </a:rPr>
              <a:t>Сроки и расчёты подтверждает инструмент.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2250" b="0">
                <a:solidFill>
                  <a:srgbClr val="DDE7D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DE7DA"/>
                </a:solidFill>
                <a:latin typeface="Arial"/>
                <a:ea typeface="Arial"/>
                <a:cs typeface="Arial"/>
              </a:rPr>
              <a:t>Модель формулирует ответ на основе результата.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027EE3-393B-43D6-A8E7-2F45C6A6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A5BA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800" b="0">
                <a:solidFill>
                  <a:srgbClr val="A5BAA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5BAAA"/>
                </a:solidFill>
                <a:latin typeface="Arial"/>
                <a:ea typeface="Arial"/>
                <a:cs typeface="Arial"/>
              </a:rPr>
              <a:t>Сейчас: локальный маршрутизатор. Gemini loop подготовлен в коде.</a:t>
            </a:r>
          </a:p>
        </p:txBody>
      </p:sp>
    </p:spTree>
    <p:extLst>
      <p:ext uri="{BB962C8B-B14F-4D97-AF65-F5344CB8AC3E}">
        <p14:creationId xmlns:p14="http://schemas.microsoft.com/office/powerpoint/2010/main" val="5652956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2D5269-C80D-4733-890D-85AB8C51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029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2029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92A"/>
                </a:solidFill>
                <a:latin typeface="Arial"/>
                <a:ea typeface="Arial"/>
                <a:cs typeface="Arial"/>
              </a:rPr>
              <a:t>Достоверность и приватность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1CBE6A-D035-4E74-9B52-1813E217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3568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2550" b="1">
                <a:solidFill>
                  <a:srgbClr val="35685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56852"/>
                </a:solidFill>
                <a:latin typeface="Arial"/>
                <a:ea typeface="Arial"/>
                <a:cs typeface="Arial"/>
              </a:rPr>
              <a:t>Нет даты — нет выдуманного дедлайна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670A08-9A31-4111-A5C7-CCA24649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2029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2100" b="0">
                <a:solidFill>
                  <a:srgbClr val="2029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92A"/>
                </a:solidFill>
                <a:latin typeface="Arial"/>
                <a:ea typeface="Arial"/>
                <a:cs typeface="Arial"/>
              </a:rPr>
              <a:t>GitHub: только подтверждённая дата milestone.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2100" b="0">
                <a:solidFill>
                  <a:srgbClr val="2029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92A"/>
                </a:solidFill>
                <a:latin typeface="Arial"/>
                <a:ea typeface="Arial"/>
                <a:cs typeface="Arial"/>
              </a:rPr>
              <a:t>Оценка длительности issue явно помечается как предположение.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BEF59F-A8F2-41E6-BBE3-A0209239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3568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2550" b="1">
                <a:solidFill>
                  <a:srgbClr val="35685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56852"/>
                </a:solidFill>
                <a:latin typeface="Arial"/>
                <a:ea typeface="Arial"/>
                <a:cs typeface="Arial"/>
              </a:rPr>
              <a:t>Материалы остаются в локальном режиме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70734C-ED12-409A-A7B4-38031DA3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2029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2100" b="0">
                <a:solidFill>
                  <a:srgbClr val="2029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92A"/>
                </a:solidFill>
                <a:latin typeface="Arial"/>
                <a:ea typeface="Arial"/>
                <a:cs typeface="Arial"/>
              </a:rPr>
              <a:t>Нет платежей, shell-команд и записи во внешние сервисы.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2100" b="0">
                <a:solidFill>
                  <a:srgbClr val="2029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92A"/>
                </a:solidFill>
                <a:latin typeface="Arial"/>
                <a:ea typeface="Arial"/>
                <a:cs typeface="Arial"/>
              </a:rPr>
              <a:t>Поиск по конспектам лексический; OCR не включён.</a:t>
            </a:r>
          </a:p>
        </p:txBody>
      </p:sp>
    </p:spTree>
    <p:extLst>
      <p:ext uri="{BB962C8B-B14F-4D97-AF65-F5344CB8AC3E}">
        <p14:creationId xmlns:p14="http://schemas.microsoft.com/office/powerpoint/2010/main" val="9445736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2B8C43-96AB-425A-87A7-545F97D7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029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2029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92A"/>
                </a:solidFill>
                <a:latin typeface="Arial"/>
                <a:ea typeface="Arial"/>
                <a:cs typeface="Arial"/>
              </a:rPr>
              <a:t>Готовность к требованиям хакатона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0A9580-32DC-4A20-96C4-9C6E1E688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504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3568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2550" b="1">
                <a:solidFill>
                  <a:srgbClr val="35685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56852"/>
                </a:solidFill>
                <a:latin typeface="Arial"/>
                <a:ea typeface="Arial"/>
                <a:cs typeface="Arial"/>
              </a:rPr>
              <a:t>Работает локально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7EB409-CACC-456A-B9B2-BE78FC8F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5143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2029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2175" b="0">
                <a:solidFill>
                  <a:srgbClr val="2029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92A"/>
                </a:solidFill>
                <a:latin typeface="Arial"/>
                <a:ea typeface="Arial"/>
                <a:cs typeface="Arial"/>
              </a:rPr>
              <a:t>Веб-интерфейс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2175" b="0">
                <a:solidFill>
                  <a:srgbClr val="2029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92A"/>
                </a:solidFill>
                <a:latin typeface="Arial"/>
                <a:ea typeface="Arial"/>
                <a:cs typeface="Arial"/>
              </a:rPr>
              <a:t>MCP и планировщик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2175" b="0">
                <a:solidFill>
                  <a:srgbClr val="2029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92A"/>
                </a:solidFill>
                <a:latin typeface="Arial"/>
                <a:ea typeface="Arial"/>
                <a:cs typeface="Arial"/>
              </a:rPr>
              <a:t>Поиск по своим материалам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2175" b="0">
                <a:solidFill>
                  <a:srgbClr val="2029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92A"/>
                </a:solidFill>
                <a:latin typeface="Arial"/>
                <a:ea typeface="Arial"/>
                <a:cs typeface="Arial"/>
              </a:rPr>
              <a:t>Журнал вызовов инструментов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702BC8-830D-4F3E-AE94-95F56811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47850"/>
            <a:ext cx="485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2029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2550" b="1">
                <a:solidFill>
                  <a:srgbClr val="2029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292A"/>
                </a:solidFill>
                <a:latin typeface="Arial"/>
                <a:ea typeface="Arial"/>
                <a:cs typeface="Arial"/>
              </a:rPr>
              <a:t>Осталось проверить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E15249-E718-4B3C-8C1F-FF3721FF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62250"/>
            <a:ext cx="4857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2029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2175" b="0">
                <a:solidFill>
                  <a:srgbClr val="2029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92A"/>
                </a:solidFill>
                <a:latin typeface="Arial"/>
                <a:ea typeface="Arial"/>
                <a:cs typeface="Arial"/>
              </a:rPr>
              <a:t>Живой вызов Gemini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2175" b="0">
                <a:solidFill>
                  <a:srgbClr val="2029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92A"/>
                </a:solidFill>
                <a:latin typeface="Arial"/>
                <a:ea typeface="Arial"/>
                <a:cs typeface="Arial"/>
              </a:rPr>
              <a:t>Agent Engine и его API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2175" b="0">
                <a:solidFill>
                  <a:srgbClr val="2029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92A"/>
                </a:solidFill>
                <a:latin typeface="Arial"/>
                <a:ea typeface="Arial"/>
                <a:cs typeface="Arial"/>
              </a:rPr>
              <a:t>Доступность облачного демо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CAD60C-1948-4BA1-A1F4-4C9AF716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7380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875" b="0">
                <a:solidFill>
                  <a:srgbClr val="7380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38075"/>
                </a:solidFill>
                <a:latin typeface="Arial"/>
                <a:ea typeface="Arial"/>
                <a:cs typeface="Arial"/>
              </a:rPr>
              <a:t>Личный биллинг не активируется. Облако сейчас выключено.</a:t>
            </a:r>
          </a:p>
        </p:txBody>
      </p:sp>
    </p:spTree>
    <p:extLst>
      <p:ext uri="{BB962C8B-B14F-4D97-AF65-F5344CB8AC3E}">
        <p14:creationId xmlns:p14="http://schemas.microsoft.com/office/powerpoint/2010/main" val="14407717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3736E4-AD23-4F91-9BB8-E9BCC8E7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029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2029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92A"/>
                </a:solidFill>
                <a:latin typeface="Arial"/>
                <a:ea typeface="Arial"/>
                <a:cs typeface="Arial"/>
              </a:rPr>
              <a:t>Следующий этап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C147DF-B4AF-40C2-B7D0-83BFCE66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33575"/>
            <a:ext cx="95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3568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3000" b="1">
                <a:solidFill>
                  <a:srgbClr val="35685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35685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DB52E9-8A19-42F6-9AAC-F760C4FB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98120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2029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2550" b="1">
                <a:solidFill>
                  <a:srgbClr val="2029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292A"/>
                </a:solidFill>
                <a:latin typeface="Arial"/>
                <a:ea typeface="Arial"/>
                <a:cs typeface="Arial"/>
              </a:rPr>
              <a:t>Бесплатный проект организаторов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D40A46-EA2C-492A-9CA2-F56031CB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57475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7380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2025" b="0">
                <a:solidFill>
                  <a:srgbClr val="73807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738075"/>
                </a:solidFill>
                <a:latin typeface="Arial"/>
                <a:ea typeface="Arial"/>
                <a:cs typeface="Arial"/>
              </a:rPr>
              <a:t>Без личной карты, предоплаты и риска личных списаний.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73756F-8496-4810-91A9-E8D62242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95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3568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3000" b="1">
                <a:solidFill>
                  <a:srgbClr val="35685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35685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9D191D-62EF-4640-A85E-43AB3861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004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2029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2550" b="1">
                <a:solidFill>
                  <a:srgbClr val="2029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292A"/>
                </a:solidFill>
                <a:latin typeface="Arial"/>
                <a:ea typeface="Arial"/>
                <a:cs typeface="Arial"/>
              </a:rPr>
              <a:t>Проверка Gemini и Agent Engine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CF38E3-098B-47D3-A1FD-47A35A86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76725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7380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2025" b="0">
                <a:solidFill>
                  <a:srgbClr val="73807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738075"/>
                </a:solidFill>
                <a:latin typeface="Arial"/>
                <a:ea typeface="Arial"/>
                <a:cs typeface="Arial"/>
              </a:rPr>
              <a:t>Реальный вызов инструментов и доступный облачный API.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EBD6F0-6EAF-4FF5-BC00-F8C86ECC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3568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2175" b="0">
                <a:solidFill>
                  <a:srgbClr val="35685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56852"/>
                </a:solidFill>
                <a:latin typeface="Arial"/>
                <a:ea typeface="Arial"/>
                <a:cs typeface="Arial"/>
              </a:rPr>
              <a:t>Затем — пилот со студентами и проверка реалистичности планов.</a:t>
            </a:r>
          </a:p>
        </p:txBody>
      </p:sp>
    </p:spTree>
    <p:extLst>
      <p:ext uri="{BB962C8B-B14F-4D97-AF65-F5344CB8AC3E}">
        <p14:creationId xmlns:p14="http://schemas.microsoft.com/office/powerpoint/2010/main" val="21052101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2026-10-17T10:25:21.3830000Z</dcterms:created>
  <dcterms:modified xsi:type="dcterms:W3CDTF">2026-10-17T10:25:21.3830000Z</dcterms:modified>
</coreProperties>
</file>